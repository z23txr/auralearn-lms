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Plus Jakarta Sans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0F7AB6-88F7-4F91-8BC6-FECB46672BC7}">
  <a:tblStyle styleId="{660F7AB6-88F7-4F91-8BC6-FECB46672B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99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35642" y="2457598"/>
            <a:ext cx="5720715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EmotionPulse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71850" y="3440459"/>
            <a:ext cx="54483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Next-Generation Customer Experience Automation.</a:t>
            </a:r>
            <a:b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Powered by Empathy.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924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55664"/>
            <a:ext cx="5229225" cy="297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04876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76300" y="2750939"/>
            <a:ext cx="4870608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Systems are Emotionally Deaf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76300" y="3204269"/>
            <a:ext cx="46386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Current CRM and ticket systems are purely transactional. They categorize keywords, not human feelings.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4263181"/>
            <a:ext cx="463867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425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No detection of </a:t>
            </a:r>
            <a:r>
              <a:rPr lang="en-US" sz="1425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Frustration Trends</a:t>
            </a:r>
            <a:r>
              <a:rPr lang="en-US" sz="1425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76300" y="4695527"/>
            <a:ext cx="463867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425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Generic bot replies escalate damage.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Statement: The $3 Trillion Blind Spot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0637" y="203924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6391274" y="2292548"/>
            <a:ext cx="5490686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EmotionPulse</a:t>
            </a:r>
            <a:r>
              <a:rPr lang="en-US" sz="19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AI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6371748" y="2915300"/>
            <a:ext cx="522922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We analyze the full spectrum of customer communication (text, voice, email) using advanced AI models to produce actionable data points.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371747" y="4447559"/>
            <a:ext cx="522922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u="none" strike="noStrike" cap="none" dirty="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Emotion</a:t>
            </a:r>
            <a:endParaRPr lang="en-US" sz="20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u="none" strike="noStrike" cap="none" dirty="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Urgency</a:t>
            </a:r>
            <a:endParaRPr lang="en-US" sz="20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Intent</a:t>
            </a:r>
            <a:endParaRPr sz="2000" dirty="0"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28737" y="2077342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Approach: Sentient Automation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96491"/>
            <a:ext cx="3524250" cy="213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696491"/>
            <a:ext cx="3524250" cy="213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1696491"/>
            <a:ext cx="3524250" cy="213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058542"/>
            <a:ext cx="11029950" cy="21334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1478041" y="2134021"/>
            <a:ext cx="1730216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E-Commerce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1071562" y="2851552"/>
            <a:ext cx="25431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Reduce basket abandonment.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5335905" y="2134021"/>
            <a:ext cx="152019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Call Centers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153025" y="2851552"/>
            <a:ext cx="1885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Prioritize critical calls.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158763" y="2134021"/>
            <a:ext cx="1380172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Healthcare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991600" y="2851552"/>
            <a:ext cx="1714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Flag patient anxiety.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515927" y="4496072"/>
            <a:ext cx="1160145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Agencies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962525" y="5213603"/>
            <a:ext cx="2266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Detect client unhappiness.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Who Needs The Pulse?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924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45196"/>
            <a:ext cx="5229225" cy="1803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39492"/>
            <a:ext cx="5229225" cy="1803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204876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76300" y="2340471"/>
            <a:ext cx="4870608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Orchestration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76300" y="2793801"/>
            <a:ext cx="46386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central automation hub. Handles triggering, data transformation, branching, and final actions.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76300" y="4334767"/>
            <a:ext cx="4870608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Analysis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76300" y="4788098"/>
            <a:ext cx="46386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Whisper API: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Audio-to-Text conversion.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HuggingFace: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Free inference APIs for emotion.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Zero-Cost AI Stack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582" y="2302222"/>
            <a:ext cx="9926835" cy="758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2582" y="3565177"/>
            <a:ext cx="9926835" cy="758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582" y="4828133"/>
            <a:ext cx="9926835" cy="75813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399282" y="2538412"/>
            <a:ext cx="2571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30792" y="256698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1399282" y="3801367"/>
            <a:ext cx="2952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pic>
        <p:nvPicPr>
          <p:cNvPr id="171" name="Google Shape;17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02217" y="382994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1399282" y="5064323"/>
            <a:ext cx="304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30792" y="5092898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1846957" y="2454622"/>
            <a:ext cx="902300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Ingestion (Trigger)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846957" y="2664172"/>
            <a:ext cx="859333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WhatsApp / Email / Webhook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885057" y="3717577"/>
            <a:ext cx="895299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Classification (AI Analysis)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885057" y="3927127"/>
            <a:ext cx="852666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Whisper API + HuggingFace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894582" y="4980533"/>
            <a:ext cx="897299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Decision Gate (Logic)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894582" y="5190083"/>
            <a:ext cx="854571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IF/ELSE Risk Calculation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Workflow Diagram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99420"/>
            <a:ext cx="5229225" cy="171241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81025" y="2476648"/>
            <a:ext cx="5490686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Trigger Nodes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81025" y="2929979"/>
            <a:ext cx="52292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workflow starts by listening for incoming data via Webhooks or polling APIs.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381750" y="2475607"/>
            <a:ext cx="5490686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Voice Processing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381750" y="2928937"/>
            <a:ext cx="52292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audio is detected, the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Whisper API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node is activated.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76300" y="4175670"/>
            <a:ext cx="46386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Webhook: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Real-time chats.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76300" y="4646116"/>
            <a:ext cx="46386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Polling: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Email/WhatsApp.</a:t>
            </a:r>
            <a:endParaRPr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9175" y="3704183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6677025" y="4647158"/>
            <a:ext cx="46386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Audio File → Clean Text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Dive: Ingestion &amp; Extraction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17440"/>
            <a:ext cx="5229225" cy="26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581025" y="2967186"/>
            <a:ext cx="5490686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Emotion Models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81025" y="3420516"/>
            <a:ext cx="52292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cleaned text is sent to HuggingFace Inference API.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77025" y="2912715"/>
            <a:ext cx="4870608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JSON Output Example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57250" y="3902392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962025" y="3900487"/>
            <a:ext cx="48482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DistilRoBERTa: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general sentiment (Pos/Neg).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57250" y="419186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62025" y="4189958"/>
            <a:ext cx="48482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GoEmotions: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28+ subtle emotions (Joy, Grief, Anger).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Dive: Cognitive Analysis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924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54610"/>
            <a:ext cx="5229225" cy="200188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81025" y="2331839"/>
            <a:ext cx="5490686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Risk Logic Engine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81025" y="2785169"/>
            <a:ext cx="52292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Implemented via a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Code Node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It combines multiple factors to output a single score.</a:t>
            </a:r>
            <a:endParaRPr/>
          </a:p>
        </p:txBody>
      </p:sp>
      <p:pic>
        <p:nvPicPr>
          <p:cNvPr id="225" name="Google Shape;22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04876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876300" y="4030860"/>
            <a:ext cx="46386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Formula: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76300" y="4501306"/>
            <a:ext cx="46386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IF (Angry AND Refund) OR (History &gt; 3 Tickets) = CRITICAL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Dive: Risk Calculation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22"/>
          <p:cNvGraphicFramePr/>
          <p:nvPr>
            <p:extLst>
              <p:ext uri="{D42A27DB-BD31-4B8C-83A1-F6EECF244321}">
                <p14:modId xmlns:p14="http://schemas.microsoft.com/office/powerpoint/2010/main" val="1564692750"/>
              </p:ext>
            </p:extLst>
          </p:nvPr>
        </p:nvGraphicFramePr>
        <p:xfrm>
          <a:off x="581025" y="2486025"/>
          <a:ext cx="11029950" cy="2916300"/>
        </p:xfrm>
        <a:graphic>
          <a:graphicData uri="http://schemas.openxmlformats.org/drawingml/2006/table">
            <a:tbl>
              <a:tblPr firstRow="1" bandRow="1">
                <a:noFill/>
                <a:tableStyleId>{660F7AB6-88F7-4F91-8BC6-FECB46672BC7}</a:tableStyleId>
              </a:tblPr>
              <a:tblGrid>
                <a:gridCol w="359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Condition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Risk Score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Churn Risk</a:t>
                      </a:r>
                      <a:endParaRPr sz="180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</a:t>
                      </a: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Angry + Refund Request</a:t>
                      </a:r>
                      <a:endParaRPr sz="1600" dirty="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CRITICAL</a:t>
                      </a:r>
                      <a:endParaRPr sz="160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sz="160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Escalate to Manager (P1)</a:t>
                      </a:r>
                      <a:endParaRPr sz="160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Confused + Inquiry</a:t>
                      </a:r>
                      <a:endParaRPr sz="1600" dirty="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 sz="1600" dirty="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 sz="160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Send RAG Explanation</a:t>
                      </a:r>
                      <a:endParaRPr sz="160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Happy + Praise</a:t>
                      </a:r>
                      <a:endParaRPr sz="160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 sz="160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sz="1600" dirty="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206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Request Review</a:t>
                      </a:r>
                      <a:endParaRPr sz="1600" dirty="0">
                        <a:solidFill>
                          <a:srgbClr val="00206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6" name="Google Shape;236;p22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Detection Matrix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924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581025" y="2967186"/>
            <a:ext cx="5490686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IF/ELSE Gateway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81025" y="3420516"/>
            <a:ext cx="522922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traffic cop of the workflow. It routes data based on the calculated `risk_score`.</a:t>
            </a:r>
            <a:endParaRPr/>
          </a:p>
        </p:txBody>
      </p:sp>
      <p:pic>
        <p:nvPicPr>
          <p:cNvPr id="246" name="Google Shape;24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4876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857250" y="419186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962025" y="4189958"/>
            <a:ext cx="48482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True Path: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Critical Issues → Human Agent.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857250" y="4481333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962025" y="4479428"/>
            <a:ext cx="48482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False Path: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Routine Queries → AI Bot.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Dive: Decision Gate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924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45196"/>
            <a:ext cx="5229225" cy="1803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39492"/>
            <a:ext cx="5229225" cy="1803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1275" y="2048767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904875" y="2340471"/>
            <a:ext cx="4840605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Risk Action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904875" y="2793801"/>
            <a:ext cx="46101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Slack Notification + P1 Ticket Creation + Compensation Template Draft.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904875" y="4334767"/>
            <a:ext cx="4840605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Happy Action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904875" y="4788098"/>
            <a:ext cx="46101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Google Review Request + Discount Code + Upsell Workflow.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Actions</a:t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61220"/>
            <a:ext cx="3486150" cy="216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861220"/>
            <a:ext cx="3486150" cy="216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861220"/>
            <a:ext cx="3486150" cy="216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781050" y="3251745"/>
            <a:ext cx="308610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40%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781050" y="4166145"/>
            <a:ext cx="30861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Churn Reduction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4552950" y="3251745"/>
            <a:ext cx="308610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75%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4552950" y="4166145"/>
            <a:ext cx="30861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Auto-Resolution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8324850" y="3251745"/>
            <a:ext cx="308610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10x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8324850" y="4166145"/>
            <a:ext cx="30861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Efficiency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581025" y="581025"/>
            <a:ext cx="11581447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Tangible ROI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581025" y="1211460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771525" y="1443335"/>
            <a:ext cx="4790598" cy="458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Roadmap</a:t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771525" y="2073771"/>
            <a:ext cx="4562475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 txBox="1"/>
          <p:nvPr/>
        </p:nvSpPr>
        <p:spPr>
          <a:xfrm>
            <a:off x="771525" y="2473821"/>
            <a:ext cx="4790598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CX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771525" y="3041451"/>
            <a:ext cx="45624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Analyze sentiment trends over weeks to predict churn before it happens.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771525" y="4087117"/>
            <a:ext cx="4790598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Voice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771525" y="4654748"/>
            <a:ext cx="45624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Intervene in live calls when stress levels peak using low-latency audio models.</a:t>
            </a:r>
            <a:endParaRPr/>
          </a:p>
        </p:txBody>
      </p:sp>
      <p:pic>
        <p:nvPicPr>
          <p:cNvPr id="295" name="Google Shape;29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7"/>
          <p:cNvSpPr txBox="1"/>
          <p:nvPr/>
        </p:nvSpPr>
        <p:spPr>
          <a:xfrm>
            <a:off x="3265646" y="2259508"/>
            <a:ext cx="5660707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Empathy Era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3400425" y="3318569"/>
            <a:ext cx="53911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"We aren't just automating workflows.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We are automating care."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Widescreen</PresentationFormat>
  <Paragraphs>101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Inter</vt:lpstr>
      <vt:lpstr>Arial</vt:lpstr>
      <vt:lpstr>Wingdings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Zainab Queen</dc:creator>
  <cp:lastModifiedBy>23-NTU-CS-FL-1218</cp:lastModifiedBy>
  <cp:revision>1</cp:revision>
  <dcterms:modified xsi:type="dcterms:W3CDTF">2025-11-25T16:57:03Z</dcterms:modified>
</cp:coreProperties>
</file>