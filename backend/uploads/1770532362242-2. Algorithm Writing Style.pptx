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6"/>
  </p:notesMasterIdLst>
  <p:sldIdLst>
    <p:sldId id="256" r:id="rId2"/>
    <p:sldId id="332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6" r:id="rId15"/>
    <p:sldId id="347" r:id="rId16"/>
    <p:sldId id="350" r:id="rId17"/>
    <p:sldId id="349" r:id="rId18"/>
    <p:sldId id="351" r:id="rId19"/>
    <p:sldId id="352" r:id="rId20"/>
    <p:sldId id="353" r:id="rId21"/>
    <p:sldId id="354" r:id="rId22"/>
    <p:sldId id="355" r:id="rId23"/>
    <p:sldId id="356" r:id="rId24"/>
    <p:sldId id="35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00"/>
    <a:srgbClr val="005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75" autoAdjust="0"/>
  </p:normalViewPr>
  <p:slideViewPr>
    <p:cSldViewPr>
      <p:cViewPr varScale="1">
        <p:scale>
          <a:sx n="82" d="100"/>
          <a:sy n="82" d="100"/>
        </p:scale>
        <p:origin x="64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13" Type="http://schemas.openxmlformats.org/officeDocument/2006/relationships/slide" Target="slides/slide14.xml"/><Relationship Id="rId18" Type="http://schemas.openxmlformats.org/officeDocument/2006/relationships/slide" Target="slides/slide19.xml"/><Relationship Id="rId3" Type="http://schemas.openxmlformats.org/officeDocument/2006/relationships/slide" Target="slides/slide4.xml"/><Relationship Id="rId21" Type="http://schemas.openxmlformats.org/officeDocument/2006/relationships/slide" Target="slides/slide22.xml"/><Relationship Id="rId7" Type="http://schemas.openxmlformats.org/officeDocument/2006/relationships/slide" Target="slides/slide8.xml"/><Relationship Id="rId12" Type="http://schemas.openxmlformats.org/officeDocument/2006/relationships/slide" Target="slides/slide13.xml"/><Relationship Id="rId17" Type="http://schemas.openxmlformats.org/officeDocument/2006/relationships/slide" Target="slides/slide18.xml"/><Relationship Id="rId2" Type="http://schemas.openxmlformats.org/officeDocument/2006/relationships/slide" Target="slides/slide3.xml"/><Relationship Id="rId16" Type="http://schemas.openxmlformats.org/officeDocument/2006/relationships/slide" Target="slides/slide17.xml"/><Relationship Id="rId20" Type="http://schemas.openxmlformats.org/officeDocument/2006/relationships/slide" Target="slides/slide21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11" Type="http://schemas.openxmlformats.org/officeDocument/2006/relationships/slide" Target="slides/slide12.xml"/><Relationship Id="rId5" Type="http://schemas.openxmlformats.org/officeDocument/2006/relationships/slide" Target="slides/slide6.xml"/><Relationship Id="rId15" Type="http://schemas.openxmlformats.org/officeDocument/2006/relationships/slide" Target="slides/slide16.xml"/><Relationship Id="rId23" Type="http://schemas.openxmlformats.org/officeDocument/2006/relationships/slide" Target="slides/slide24.xml"/><Relationship Id="rId10" Type="http://schemas.openxmlformats.org/officeDocument/2006/relationships/slide" Target="slides/slide11.xml"/><Relationship Id="rId19" Type="http://schemas.openxmlformats.org/officeDocument/2006/relationships/slide" Target="slides/slide20.xml"/><Relationship Id="rId4" Type="http://schemas.openxmlformats.org/officeDocument/2006/relationships/slide" Target="slides/slide5.xml"/><Relationship Id="rId9" Type="http://schemas.openxmlformats.org/officeDocument/2006/relationships/slide" Target="slides/slide10.xml"/><Relationship Id="rId14" Type="http://schemas.openxmlformats.org/officeDocument/2006/relationships/slide" Target="slides/slide15.xml"/><Relationship Id="rId22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ur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FB0F83C-5A10-4566-8455-19EBB2CDADB3}" type="datetimeFigureOut">
              <a:rPr lang="ur-PK" smtClean="0"/>
              <a:pPr/>
              <a:t>08/04/1445</a:t>
            </a:fld>
            <a:endParaRPr lang="ur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ur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F6B5A38-E8E1-4F73-A985-33830AD68DCA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801264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B5A38-E8E1-4F73-A985-33830AD68DCA}" type="slidenum">
              <a:rPr lang="ur-PK" smtClean="0"/>
              <a:pPr/>
              <a:t>1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33300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F41D-B32F-4979-AAAA-8E70705CCFD2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6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07857-8854-4377-891B-443D3509003C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34263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39CD-67B5-48C0-B9A2-38435C7186B6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58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C49A1-2A75-4607-BBC6-1A1B31EA2A91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05303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859F-4DB5-464C-8583-900A65BD24C2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43229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4C24-7DAD-484B-A39F-31172AE7E09F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42415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5C66-9FE7-483A-90DE-7F57C60CC52E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71227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BD06DF-9E99-4F37-B21A-1EFAE5128B93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46926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38EF-2883-4F98-A044-4B6FC7751512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71301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5C2F-4FD9-4E54-B6F6-C080F88E9893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15960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2C19-EBEA-4164-84D6-E44A2A92D7B2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05298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5243B1-005E-4E0E-9A1D-91A3BE1C5E71}" type="datetime8">
              <a:rPr lang="ur-PK" smtClean="0"/>
              <a:t>22 اکتوبر، 23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Design and Analysis of Algorithms</a:t>
            </a:r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D69894F-449D-476E-815A-5F325AE9C4DD}" type="slidenum">
              <a:rPr lang="ur-PK" smtClean="0"/>
              <a:pPr/>
              <a:t>‹#›</a:t>
            </a:fld>
            <a:endParaRPr lang="ur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98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19201" y="4414271"/>
            <a:ext cx="9906000" cy="1834129"/>
          </a:xfrm>
          <a:prstGeom prst="rect">
            <a:avLst/>
          </a:prstGeom>
          <a:solidFill>
            <a:srgbClr val="004200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7824">
              <a:spcAft>
                <a:spcPts val="600"/>
              </a:spcAft>
            </a:pPr>
            <a:r>
              <a:rPr lang="en-US" sz="1728">
                <a:solidFill>
                  <a:schemeClr val="bg1"/>
                </a:solidFill>
              </a:rPr>
              <a:t>Dr. Hamid Ali</a:t>
            </a:r>
          </a:p>
          <a:p>
            <a:pPr algn="ctr" defTabSz="877824">
              <a:spcAft>
                <a:spcPts val="600"/>
              </a:spcAft>
            </a:pPr>
            <a:r>
              <a:rPr lang="en-US" sz="1728">
                <a:solidFill>
                  <a:schemeClr val="bg1"/>
                </a:solidFill>
              </a:rPr>
              <a:t>hamid.ali@ntu.edu.pk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9201" y="1304823"/>
            <a:ext cx="9905999" cy="2195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77824">
              <a:spcAft>
                <a:spcPts val="600"/>
              </a:spcAft>
            </a:pPr>
            <a:r>
              <a:rPr lang="en-US" sz="2688" b="1" dirty="0">
                <a:solidFill>
                  <a:srgbClr val="004200"/>
                </a:solidFill>
                <a:latin typeface="Arial"/>
                <a:cs typeface="Arial"/>
              </a:rPr>
              <a:t>Design and Analysis of Algorithms</a:t>
            </a:r>
            <a:br>
              <a:rPr lang="en-US" sz="2304" b="1" dirty="0">
                <a:solidFill>
                  <a:srgbClr val="004200"/>
                </a:solidFill>
                <a:latin typeface="Arial"/>
                <a:cs typeface="Arial"/>
              </a:rPr>
            </a:br>
            <a:endParaRPr lang="en-US" sz="2304" b="1" dirty="0">
              <a:solidFill>
                <a:srgbClr val="004200"/>
              </a:solidFill>
              <a:latin typeface="Arial"/>
              <a:cs typeface="Arial"/>
            </a:endParaRPr>
          </a:p>
          <a:p>
            <a:pPr algn="ctr" defTabSz="877824">
              <a:spcAft>
                <a:spcPts val="600"/>
              </a:spcAft>
            </a:pPr>
            <a:r>
              <a:rPr lang="en-US" sz="2688" i="1" dirty="0">
                <a:solidFill>
                  <a:srgbClr val="004200"/>
                </a:solidFill>
                <a:latin typeface="Arial"/>
                <a:cs typeface="Arial"/>
              </a:rPr>
              <a:t>Algorithm Writing Style</a:t>
            </a:r>
          </a:p>
          <a:p>
            <a:pPr algn="ctr" defTabSz="877824">
              <a:spcAft>
                <a:spcPts val="600"/>
              </a:spcAft>
            </a:pPr>
            <a:endParaRPr lang="en-US" sz="2688" b="1" i="1" dirty="0">
              <a:solidFill>
                <a:srgbClr val="004200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</a:pPr>
            <a:endParaRPr lang="en-US" i="1" dirty="0">
              <a:solidFill>
                <a:srgbClr val="004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17104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Outline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 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 What is an Algorithm?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Design strategies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 Analysis of Algorithm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/>
              <a:t> Complexity </a:t>
            </a:r>
            <a:r>
              <a:rPr lang="en-US" sz="2400" dirty="0"/>
              <a:t>Theory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834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17104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What is an Algorithm?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“a finite set of precise instructions for performing a computation or for solving a problem”.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is one type of algorithm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programs are algorithms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algorithms are programs!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 to somebody’s house is an algorithm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recipe for cooking a cake is an algorithm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steps to compute the cosine of 90° is an algorithm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3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914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17104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Some algorithms are harder than others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are easy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largest (or smallest) value in a list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specific value in a list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are a bit harder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 list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are very hard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the shortest path between Miami and Seattle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 are essentially impossible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Factoring large composite numbers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4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2230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Properties of algorithms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generally share a set of properties: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what the algorithm takes in as input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what the algorithm produces as output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Definiteness: the steps are defined precisely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Correctness: should produce the correct output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Finiteness: the steps required should be finite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Effectiveness: each step must be able to be performed in a finite amount of time</a:t>
            </a:r>
          </a:p>
          <a:p>
            <a:pPr marL="637096" lvl="1" indent="-344488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Generality: the algorithm should be applicable to all problems of a similar form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5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538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Algorithm Writing Style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can be written in any manner unless they provide the solution of a problem (Correct )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write Algorithm?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styles are mostly commonly used: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Pseudo-code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6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522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Programming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various examples of programming languages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was an example of a procedural language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Imperative or procedural model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executes a sequence of instructions to accomplish a task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FORTRAN, COBOL, BASIC, C, Pascal, Ada, and C++</a:t>
            </a:r>
          </a:p>
          <a:p>
            <a:pPr marL="0" indent="0" algn="just">
              <a:buNone/>
            </a:pP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7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162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4800"/>
            <a:ext cx="3845379" cy="143054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Programming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1828800"/>
            <a:ext cx="4792436" cy="3670180"/>
          </a:xfrm>
        </p:spPr>
        <p:txBody>
          <a:bodyPr>
            <a:normAutofit/>
          </a:bodyPr>
          <a:lstStyle/>
          <a:p>
            <a:pPr marL="344488" indent="-344488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look back at other models for programming languages:</a:t>
            </a:r>
            <a:endParaRPr lang="en-GB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8639" y="6459786"/>
            <a:ext cx="361710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9344" y="6459786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D69894F-449D-476E-815A-5F325AE9C4DD}" type="slidenum">
              <a:rPr lang="ur-PK" smtClean="0">
                <a:cs typeface="+mj-cs"/>
              </a:rPr>
              <a:pPr>
                <a:spcAft>
                  <a:spcPts val="600"/>
                </a:spcAft>
              </a:pPr>
              <a:t>8</a:t>
            </a:fld>
            <a:endParaRPr lang="ur-PK">
              <a:cs typeface="+mj-cs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EC45E0BB-1866-B6D9-FD8D-758E6F594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1828800"/>
            <a:ext cx="48768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81200" y="1295400"/>
            <a:ext cx="8229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If Statements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9</a:t>
            </a:fld>
            <a:endParaRPr lang="ur-PK" sz="1600" dirty="0">
              <a:cs typeface="+mj-cs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70285D24-E46C-D056-9181-593C97E66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565" y="1905000"/>
            <a:ext cx="7440236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432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81000"/>
            <a:ext cx="4920343" cy="145075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Block of code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1828800"/>
            <a:ext cx="4792436" cy="3670180"/>
          </a:xfrm>
        </p:spPr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we do if or while statements in C with multiple lines of code?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8639" y="6459786"/>
            <a:ext cx="361710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9344" y="6459786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D69894F-449D-476E-815A-5F325AE9C4DD}" type="slidenum">
              <a:rPr lang="ur-PK" smtClean="0">
                <a:cs typeface="+mj-cs"/>
              </a:rPr>
              <a:pPr>
                <a:spcAft>
                  <a:spcPts val="600"/>
                </a:spcAft>
              </a:pPr>
              <a:t>10</a:t>
            </a:fld>
            <a:endParaRPr lang="ur-PK"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E6016-77E6-D99E-19F9-997528CE4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000" y="1828800"/>
            <a:ext cx="51054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81200" y="1295400"/>
            <a:ext cx="8229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1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04800"/>
            <a:ext cx="3845379" cy="145075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Loops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2198914"/>
            <a:ext cx="4792436" cy="3670180"/>
          </a:xfrm>
        </p:spPr>
        <p:txBody>
          <a:bodyPr>
            <a:normAutofit/>
          </a:bodyPr>
          <a:lstStyle/>
          <a:p>
            <a:pPr marL="344488" indent="-344488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did we do while loops in C?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8639" y="6459786"/>
            <a:ext cx="361710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9344" y="6459786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D69894F-449D-476E-815A-5F325AE9C4DD}" type="slidenum">
              <a:rPr lang="ur-PK" smtClean="0">
                <a:cs typeface="+mj-cs"/>
              </a:rPr>
              <a:pPr>
                <a:spcAft>
                  <a:spcPts val="600"/>
                </a:spcAft>
              </a:pPr>
              <a:t>11</a:t>
            </a:fld>
            <a:endParaRPr lang="ur-PK"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ACEE2-37AD-AB67-82E4-9064C030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6231" y="1905000"/>
            <a:ext cx="4326369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81200" y="1295400"/>
            <a:ext cx="8229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69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Taking a step back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I want to describe a program for you to write, but I don't know which language you will use.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see an example; an algorithm described using comments and asked the user to fill it in.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12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2388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Write a program to count the length of a message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31800" indent="-32385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#include &lt;</a:t>
            </a:r>
            <a:r>
              <a:rPr lang="en-US" altLang="en-US" dirty="0" err="1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stdio.h</a:t>
            </a:r>
            <a:r>
              <a:rPr lang="en-US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&gt;</a:t>
            </a:r>
          </a:p>
          <a:p>
            <a:pPr marL="431800" indent="-323850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main(void)</a:t>
            </a:r>
            <a:r>
              <a:rPr lang="ar-SA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‏</a:t>
            </a:r>
            <a:endParaRPr lang="en-US" altLang="en-US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431800" indent="-323850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{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char </a:t>
            </a:r>
            <a:r>
              <a:rPr lang="en-US" altLang="en-US" sz="2000" dirty="0" err="1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ch</a:t>
            </a: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;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int length = 0;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endParaRPr lang="en-US" altLang="en-US" sz="2000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//Prompt the user for a message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endParaRPr lang="en-US" altLang="en-US" sz="2000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//Read the first character of the message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endParaRPr lang="en-US" altLang="en-US" sz="2000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//while loop to count how the message is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endParaRPr lang="en-US" altLang="en-US" sz="2000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//print length of message</a:t>
            </a: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endParaRPr lang="en-US" altLang="en-US" sz="2000" dirty="0">
              <a:solidFill>
                <a:srgbClr val="000000"/>
              </a:solidFill>
              <a:latin typeface="Arial"/>
              <a:ea typeface="Arial Unicode MS"/>
              <a:cs typeface="Arial Unicode MS"/>
            </a:endParaRPr>
          </a:p>
          <a:p>
            <a:pPr marL="863600" lvl="1" indent="-287338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return 0;</a:t>
            </a:r>
          </a:p>
          <a:p>
            <a:pPr marL="431800" indent="-323850" defTabSz="457200" fontAlgn="base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tabLst>
                <a:tab pos="1339850" algn="l"/>
                <a:tab pos="2254250" algn="l"/>
                <a:tab pos="3168650" algn="l"/>
                <a:tab pos="4083050" algn="l"/>
                <a:tab pos="4997450" algn="l"/>
                <a:tab pos="5911850" algn="l"/>
                <a:tab pos="6826250" algn="l"/>
                <a:tab pos="7740650" algn="l"/>
                <a:tab pos="8655050" algn="l"/>
                <a:tab pos="9569450" algn="l"/>
                <a:tab pos="10483850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Arial"/>
                <a:ea typeface="Arial Unicode MS"/>
                <a:cs typeface="Arial Unicode MS"/>
              </a:rPr>
              <a:t>}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13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846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Pseudocode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remember, even comments are different in various languages!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 in python, comments are put after % sign instead of //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need a way to describe a program which is independent of a specific language.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14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986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Pseudocode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way of expressing algorithms that uses a mixture of English phrases and indention to make the steps in the solution explicit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grammar rules in pseudocode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is not case sensitive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15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845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Pseudocode Example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16</a:t>
            </a:fld>
            <a:endParaRPr lang="ur-PK" sz="1600" dirty="0"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2A543DD-A535-2A52-2C89-E8116487EEF0}"/>
              </a:ext>
            </a:extLst>
          </p:cNvPr>
          <p:cNvSpPr txBox="1">
            <a:spLocks noChangeArrowheads="1"/>
          </p:cNvSpPr>
          <p:nvPr/>
        </p:nvSpPr>
        <p:spPr>
          <a:xfrm>
            <a:off x="2438400" y="1828800"/>
            <a:ext cx="7315200" cy="4419601"/>
          </a:xfrm>
          <a:prstGeom prst="rect">
            <a:avLst/>
          </a:prstGeom>
          <a:solidFill>
            <a:srgbClr val="CCCCCC"/>
          </a:solidFill>
          <a:ln/>
        </p:spPr>
        <p:txBody>
          <a:bodyPr vert="horz" lIns="90000" tIns="46800" rIns="90000" bIns="4680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4000"/>
              </a:lnSpc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Write "How many pairs of values are to be entered?"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Read </a:t>
            </a:r>
            <a:r>
              <a:rPr lang="en-US" altLang="en-US" sz="1600" i="1" dirty="0" err="1"/>
              <a:t>numberOfPairs</a:t>
            </a:r>
            <a:endParaRPr lang="en-US" altLang="en-US" sz="1600" i="1" dirty="0"/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Set </a:t>
            </a:r>
            <a:r>
              <a:rPr lang="en-US" altLang="en-US" sz="1600" i="1" dirty="0" err="1"/>
              <a:t>numberRead</a:t>
            </a:r>
            <a:r>
              <a:rPr lang="en-US" altLang="en-US" sz="1600" i="1" dirty="0"/>
              <a:t> to 0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While (</a:t>
            </a:r>
            <a:r>
              <a:rPr lang="en-US" altLang="en-US" sz="1600" i="1" dirty="0" err="1"/>
              <a:t>numberRead</a:t>
            </a:r>
            <a:r>
              <a:rPr lang="en-US" altLang="en-US" sz="1600" i="1" dirty="0"/>
              <a:t> &lt; </a:t>
            </a:r>
            <a:r>
              <a:rPr lang="en-US" altLang="en-US" sz="1600" i="1" dirty="0" err="1"/>
              <a:t>numberOfPairs</a:t>
            </a:r>
            <a:r>
              <a:rPr lang="en-US" altLang="en-US" sz="1600" i="1" dirty="0"/>
              <a:t>)</a:t>
            </a:r>
            <a:r>
              <a:rPr lang="ar-SA" altLang="en-US" sz="1600" i="1" dirty="0"/>
              <a:t>‏</a:t>
            </a:r>
            <a:endParaRPr lang="en-US" altLang="en-US" sz="1600" i="1" dirty="0"/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Write "Enter two values separated by a blank; press return"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Read number1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Read number2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If (number1 &lt; number2)</a:t>
            </a:r>
            <a:r>
              <a:rPr lang="ar-SA" altLang="en-US" sz="1600" i="1" dirty="0"/>
              <a:t>‏</a:t>
            </a:r>
            <a:endParaRPr lang="en-US" altLang="en-US" sz="1600" i="1" dirty="0"/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	Print number1 + " " + number2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Else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	Print number2 + " " number1</a:t>
            </a:r>
          </a:p>
          <a:p>
            <a:pPr>
              <a:spcBef>
                <a:spcPts val="10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600" i="1" dirty="0"/>
              <a:t>		Increment </a:t>
            </a:r>
            <a:r>
              <a:rPr lang="en-US" altLang="en-US" sz="1600" i="1" dirty="0" err="1"/>
              <a:t>numberRead</a:t>
            </a:r>
            <a:r>
              <a:rPr lang="en-US" altLang="en-US" sz="1600" i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03624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(Dictionary) A schematic representation of a sequence of operations, as in a manufacturing process or computer program.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(Technical) A graphical representation of the sequence of operations in an information system or program. 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 flowcharts show how data flows from source documents through the computer to final distribution to users. 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flowcharts show the sequence of instructions in a single program or subroutine. 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symbols are used to draw each type of flowchart.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17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57930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Flowchart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logic of an algorithm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Flowcharts is a graph used to depict or show a step-by-step solution using symbols which represent a task.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control flow from one action to the next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symbols used consist of geometrical shapes that are connected by flow lines.</a:t>
            </a:r>
          </a:p>
          <a:p>
            <a:pPr marL="749808" lvl="1" indent="-457200" algn="just">
              <a:buFont typeface="Wingdings" panose="05000000000000000000" pitchFamily="2" charset="2"/>
              <a:buChar char="§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alternative to pseudo coding; whereas a pseudocode description is verbal, a flowchart is graphical in nature.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18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58334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Symbols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C92F79EE-ABD3-0CF7-EE63-6B08CF51654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468384"/>
              </p:ext>
            </p:extLst>
          </p:nvPr>
        </p:nvGraphicFramePr>
        <p:xfrm>
          <a:off x="3914775" y="1846263"/>
          <a:ext cx="4422775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101225" imgH="5549102" progId="Visio.Drawing.11">
                  <p:embed/>
                </p:oleObj>
              </mc:Choice>
              <mc:Fallback>
                <p:oleObj name="Visio" r:id="rId2" imgW="6101225" imgH="5549102" progId="Visio.Drawing.11">
                  <p:embed/>
                  <p:pic>
                    <p:nvPicPr>
                      <p:cNvPr id="11268" name="Object 9">
                        <a:extLst>
                          <a:ext uri="{FF2B5EF4-FFF2-40B4-BE49-F238E27FC236}">
                            <a16:creationId xmlns:a16="http://schemas.microsoft.com/office/drawing/2014/main" id="{A14478EE-4B67-E457-C927-9B5B772323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1846263"/>
                        <a:ext cx="4422775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19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0950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Example 1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algorithm to determine a student’s final grade and indicate whether it is passing or failing.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grade is calculated as the average of four marks.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20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0017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Example 1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6850" y="1845734"/>
            <a:ext cx="6686550" cy="4023360"/>
          </a:xfrm>
        </p:spPr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 	Input M1,M2,M3,M4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	GRADE  (M1+M2+M3+M4)/4 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	if (GRADE &lt;50) then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	Print “FAIL”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else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Print “PASS”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endif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21</a:t>
            </a:fld>
            <a:endParaRPr lang="ur-PK" sz="1600" dirty="0">
              <a:cs typeface="+mj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B061B7-C23C-8E16-D413-E18B9F591FA5}"/>
              </a:ext>
            </a:extLst>
          </p:cNvPr>
          <p:cNvGrpSpPr/>
          <p:nvPr/>
        </p:nvGrpSpPr>
        <p:grpSpPr>
          <a:xfrm>
            <a:off x="990600" y="1828800"/>
            <a:ext cx="4267200" cy="4413250"/>
            <a:chOff x="1828800" y="1828800"/>
            <a:chExt cx="4267200" cy="4413250"/>
          </a:xfrm>
        </p:grpSpPr>
        <p:grpSp>
          <p:nvGrpSpPr>
            <p:cNvPr id="2" name="Group 34">
              <a:extLst>
                <a:ext uri="{FF2B5EF4-FFF2-40B4-BE49-F238E27FC236}">
                  <a16:creationId xmlns:a16="http://schemas.microsoft.com/office/drawing/2014/main" id="{22A2AFA5-AE0B-2CE3-EBA8-9A9023677A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4300" y="1828800"/>
              <a:ext cx="3441700" cy="4413250"/>
              <a:chOff x="712" y="1152"/>
              <a:chExt cx="2168" cy="2780"/>
            </a:xfrm>
          </p:grpSpPr>
          <p:sp>
            <p:nvSpPr>
              <p:cNvPr id="4" name="AutoShape 9">
                <a:extLst>
                  <a:ext uri="{FF2B5EF4-FFF2-40B4-BE49-F238E27FC236}">
                    <a16:creationId xmlns:a16="http://schemas.microsoft.com/office/drawing/2014/main" id="{9285C13D-5B96-CC52-0694-47D44842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152"/>
                <a:ext cx="592" cy="213"/>
              </a:xfrm>
              <a:prstGeom prst="flowChartTerminator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dirty="0"/>
                  <a:t>START</a:t>
                </a:r>
                <a:endParaRPr lang="en-US" altLang="en-US" sz="1800" dirty="0"/>
              </a:p>
            </p:txBody>
          </p:sp>
          <p:sp>
            <p:nvSpPr>
              <p:cNvPr id="9" name="Line 10">
                <a:extLst>
                  <a:ext uri="{FF2B5EF4-FFF2-40B4-BE49-F238E27FC236}">
                    <a16:creationId xmlns:a16="http://schemas.microsoft.com/office/drawing/2014/main" id="{C50E5C45-3668-11F9-68E0-F14C868E3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8" y="1365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AutoShape 11">
                <a:extLst>
                  <a:ext uri="{FF2B5EF4-FFF2-40B4-BE49-F238E27FC236}">
                    <a16:creationId xmlns:a16="http://schemas.microsoft.com/office/drawing/2014/main" id="{5BDBDF28-8C62-DF28-71F4-4158AE595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" y="1532"/>
                <a:ext cx="1301" cy="320"/>
              </a:xfrm>
              <a:prstGeom prst="flowChartInputOutpu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Input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M1,M2,M3,M4</a:t>
                </a:r>
                <a:endParaRPr lang="en-US" altLang="en-US" sz="1800"/>
              </a:p>
            </p:txBody>
          </p:sp>
          <p:sp>
            <p:nvSpPr>
              <p:cNvPr id="11" name="AutoShape 12">
                <a:extLst>
                  <a:ext uri="{FF2B5EF4-FFF2-40B4-BE49-F238E27FC236}">
                    <a16:creationId xmlns:a16="http://schemas.microsoft.com/office/drawing/2014/main" id="{D4C8EAB2-521A-DF44-E1B4-03F781097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2068"/>
                <a:ext cx="1489" cy="213"/>
              </a:xfrm>
              <a:prstGeom prst="flowChartProcess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GRADE</a:t>
                </a:r>
                <a:r>
                  <a:rPr lang="en-US" altLang="en-US" sz="1200" b="1">
                    <a:sym typeface="Symbol" panose="05050102010706020507" pitchFamily="18" charset="2"/>
                  </a:rPr>
                  <a:t></a:t>
                </a:r>
                <a:r>
                  <a:rPr lang="en-US" altLang="en-US" sz="1200" b="1"/>
                  <a:t>(M1+M2+M3+M4)/4</a:t>
                </a:r>
                <a:endParaRPr lang="en-US" altLang="en-US" sz="1800"/>
              </a:p>
            </p:txBody>
          </p:sp>
          <p:sp>
            <p:nvSpPr>
              <p:cNvPr id="12" name="Line 13">
                <a:extLst>
                  <a:ext uri="{FF2B5EF4-FFF2-40B4-BE49-F238E27FC236}">
                    <a16:creationId xmlns:a16="http://schemas.microsoft.com/office/drawing/2014/main" id="{91C3F198-5447-F93C-8F66-AAA3C0854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8" y="1852"/>
                <a:ext cx="0" cy="2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AutoShape 14">
                <a:extLst>
                  <a:ext uri="{FF2B5EF4-FFF2-40B4-BE49-F238E27FC236}">
                    <a16:creationId xmlns:a16="http://schemas.microsoft.com/office/drawing/2014/main" id="{CA877B00-F370-7434-23E1-413C67866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7" y="2439"/>
                <a:ext cx="1183" cy="533"/>
              </a:xfrm>
              <a:prstGeom prst="flowChartDecision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IS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GRADE&lt;50</a:t>
                </a:r>
                <a:endParaRPr lang="en-US" altLang="en-US" sz="1800"/>
              </a:p>
            </p:txBody>
          </p:sp>
          <p:sp>
            <p:nvSpPr>
              <p:cNvPr id="14" name="AutoShape 16">
                <a:extLst>
                  <a:ext uri="{FF2B5EF4-FFF2-40B4-BE49-F238E27FC236}">
                    <a16:creationId xmlns:a16="http://schemas.microsoft.com/office/drawing/2014/main" id="{D77FA563-5328-82B5-AF77-BE4FE563E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" y="3079"/>
                <a:ext cx="1006" cy="373"/>
              </a:xfrm>
              <a:prstGeom prst="flowChartDisplay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PRINT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“FAIL”</a:t>
                </a:r>
                <a:endParaRPr lang="en-US" altLang="en-US" sz="1800"/>
              </a:p>
            </p:txBody>
          </p:sp>
          <p:sp>
            <p:nvSpPr>
              <p:cNvPr id="15" name="Line 17">
                <a:extLst>
                  <a:ext uri="{FF2B5EF4-FFF2-40B4-BE49-F238E27FC236}">
                    <a16:creationId xmlns:a16="http://schemas.microsoft.com/office/drawing/2014/main" id="{D05E5E96-E33B-883C-83DF-4F906B883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8" y="3612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AutoShape 18">
                <a:extLst>
                  <a:ext uri="{FF2B5EF4-FFF2-40B4-BE49-F238E27FC236}">
                    <a16:creationId xmlns:a16="http://schemas.microsoft.com/office/drawing/2014/main" id="{5C3D0EAC-A1D5-BDBF-26C3-E81352CB9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3" y="3719"/>
                <a:ext cx="591" cy="213"/>
              </a:xfrm>
              <a:prstGeom prst="flowChartTerminator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STOP</a:t>
                </a:r>
                <a:endParaRPr lang="en-US" altLang="en-US" sz="1800"/>
              </a:p>
            </p:txBody>
          </p:sp>
          <p:sp>
            <p:nvSpPr>
              <p:cNvPr id="17" name="Line 19">
                <a:extLst>
                  <a:ext uri="{FF2B5EF4-FFF2-40B4-BE49-F238E27FC236}">
                    <a16:creationId xmlns:a16="http://schemas.microsoft.com/office/drawing/2014/main" id="{C16B6B7C-A350-BD51-D547-63B5B9C06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3612"/>
                <a:ext cx="16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20">
                <a:extLst>
                  <a:ext uri="{FF2B5EF4-FFF2-40B4-BE49-F238E27FC236}">
                    <a16:creationId xmlns:a16="http://schemas.microsoft.com/office/drawing/2014/main" id="{B75F0ECB-3DC2-8C6D-0E5E-403768ECF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3452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21">
                <a:extLst>
                  <a:ext uri="{FF2B5EF4-FFF2-40B4-BE49-F238E27FC236}">
                    <a16:creationId xmlns:a16="http://schemas.microsoft.com/office/drawing/2014/main" id="{7C1AADEB-FEC5-A1E7-1337-E79DB9BB9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6" y="3452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22">
                <a:extLst>
                  <a:ext uri="{FF2B5EF4-FFF2-40B4-BE49-F238E27FC236}">
                    <a16:creationId xmlns:a16="http://schemas.microsoft.com/office/drawing/2014/main" id="{8F3F193D-CC8D-3BA2-6BB4-F87C27BE1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0" y="2705"/>
                <a:ext cx="2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817D86DF-3B31-AC22-73B8-B48B839AF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6" y="2705"/>
                <a:ext cx="0" cy="3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24">
                <a:extLst>
                  <a:ext uri="{FF2B5EF4-FFF2-40B4-BE49-F238E27FC236}">
                    <a16:creationId xmlns:a16="http://schemas.microsoft.com/office/drawing/2014/main" id="{28DCDD5D-D56D-E3B1-5F9D-C9A27DD3E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688"/>
                <a:ext cx="0" cy="3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26">
                <a:extLst>
                  <a:ext uri="{FF2B5EF4-FFF2-40B4-BE49-F238E27FC236}">
                    <a16:creationId xmlns:a16="http://schemas.microsoft.com/office/drawing/2014/main" id="{9CEB21E8-DEE5-7B65-85AC-B117A6C1D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8" y="2279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0DA367BC-6ECA-08F9-357E-6AE7B2ED7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544"/>
                <a:ext cx="296" cy="159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Y</a:t>
                </a:r>
                <a:endParaRPr lang="en-US" altLang="en-US" sz="1800"/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A7D20FAC-2C86-0A1D-3F18-1C833DF3B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528"/>
                <a:ext cx="296" cy="160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/>
                  <a:t>N</a:t>
                </a:r>
                <a:endParaRPr lang="en-US" altLang="en-US" sz="1800"/>
              </a:p>
            </p:txBody>
          </p:sp>
          <p:sp>
            <p:nvSpPr>
              <p:cNvPr id="26" name="Line 33">
                <a:extLst>
                  <a:ext uri="{FF2B5EF4-FFF2-40B4-BE49-F238E27FC236}">
                    <a16:creationId xmlns:a16="http://schemas.microsoft.com/office/drawing/2014/main" id="{CBA061FF-DE56-0474-591F-DC0DDEE85B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2688"/>
                <a:ext cx="2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" name="AutoShape 15">
              <a:extLst>
                <a:ext uri="{FF2B5EF4-FFF2-40B4-BE49-F238E27FC236}">
                  <a16:creationId xmlns:a16="http://schemas.microsoft.com/office/drawing/2014/main" id="{FECA2E4B-DAFC-D912-6CE2-AACDDC816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4876800"/>
              <a:ext cx="1597025" cy="592137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PRINT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“PASS”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202973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Example 2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algorithm and draw a flowchart to convert the length in feet to centimeter.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22</a:t>
            </a:fld>
            <a:endParaRPr lang="ur-PK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708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Example 2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2DCA54-2335-58C0-547E-262B6F89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6850" y="1845734"/>
            <a:ext cx="6686550" cy="4023360"/>
          </a:xfrm>
        </p:spPr>
        <p:txBody>
          <a:bodyPr>
            <a:normAutofit/>
          </a:bodyPr>
          <a:lstStyle/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the length in feet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Lft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length in cm (Lcm) by multiplying LFT with 30</a:t>
            </a:r>
          </a:p>
          <a:p>
            <a:pPr marL="344488" indent="-344488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length in cm (LCM)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23</a:t>
            </a:fld>
            <a:endParaRPr lang="ur-PK" sz="1600" dirty="0">
              <a:cs typeface="+mj-cs"/>
            </a:endParaRPr>
          </a:p>
        </p:txBody>
      </p:sp>
      <p:grpSp>
        <p:nvGrpSpPr>
          <p:cNvPr id="29" name="Group 4">
            <a:extLst>
              <a:ext uri="{FF2B5EF4-FFF2-40B4-BE49-F238E27FC236}">
                <a16:creationId xmlns:a16="http://schemas.microsoft.com/office/drawing/2014/main" id="{003F3B00-D4AD-971F-954C-54B36356A0C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057400"/>
            <a:ext cx="2011363" cy="3670300"/>
            <a:chOff x="2448" y="5328"/>
            <a:chExt cx="3168" cy="5779"/>
          </a:xfrm>
        </p:grpSpPr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1EA00329-FBAD-431C-9D2C-E2A345A50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5328"/>
              <a:ext cx="1440" cy="576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START</a:t>
              </a:r>
              <a:endParaRPr lang="en-US" altLang="en-US" sz="1800"/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F8097FC8-27D8-7007-08D0-E97A82FD0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590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utoShape 7">
              <a:extLst>
                <a:ext uri="{FF2B5EF4-FFF2-40B4-BE49-F238E27FC236}">
                  <a16:creationId xmlns:a16="http://schemas.microsoft.com/office/drawing/2014/main" id="{A73A5D6C-D01A-DB87-1375-7FDF2E2F4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6355"/>
              <a:ext cx="3168" cy="864"/>
            </a:xfrm>
            <a:prstGeom prst="flowChartInputOutpu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Input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Lft</a:t>
              </a:r>
              <a:endParaRPr lang="en-US" altLang="en-US" sz="1800"/>
            </a:p>
          </p:txBody>
        </p:sp>
        <p:sp>
          <p:nvSpPr>
            <p:cNvPr id="33" name="AutoShape 8">
              <a:extLst>
                <a:ext uri="{FF2B5EF4-FFF2-40B4-BE49-F238E27FC236}">
                  <a16:creationId xmlns:a16="http://schemas.microsoft.com/office/drawing/2014/main" id="{9D2C2F70-BC81-8238-483E-50E65CFF7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7801"/>
              <a:ext cx="2141" cy="576"/>
            </a:xfrm>
            <a:prstGeom prst="flowChartProcess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Lcm </a:t>
              </a:r>
              <a:r>
                <a:rPr lang="en-US" altLang="en-US" sz="1800">
                  <a:sym typeface="Symbol" panose="05050102010706020507" pitchFamily="18" charset="2"/>
                </a:rPr>
                <a:t></a:t>
              </a:r>
              <a:r>
                <a:rPr lang="en-US" altLang="en-US" sz="1200" b="1"/>
                <a:t> Lft x 30</a:t>
              </a:r>
            </a:p>
          </p:txBody>
        </p:sp>
        <p:sp>
          <p:nvSpPr>
            <p:cNvPr id="34" name="Line 9">
              <a:extLst>
                <a:ext uri="{FF2B5EF4-FFF2-40B4-BE49-F238E27FC236}">
                  <a16:creationId xmlns:a16="http://schemas.microsoft.com/office/drawing/2014/main" id="{10962F1C-EFD1-3D07-BCBF-0197720CF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AutoShape 10">
              <a:extLst>
                <a:ext uri="{FF2B5EF4-FFF2-40B4-BE49-F238E27FC236}">
                  <a16:creationId xmlns:a16="http://schemas.microsoft.com/office/drawing/2014/main" id="{107D1112-8886-7B68-057B-EB7CA8BD8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8947"/>
              <a:ext cx="2448" cy="1008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Print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Lcm</a:t>
              </a:r>
              <a:endParaRPr lang="en-US" altLang="en-US" sz="1800"/>
            </a:p>
          </p:txBody>
        </p:sp>
        <p:sp>
          <p:nvSpPr>
            <p:cNvPr id="36" name="AutoShape 11">
              <a:extLst>
                <a:ext uri="{FF2B5EF4-FFF2-40B4-BE49-F238E27FC236}">
                  <a16:creationId xmlns:a16="http://schemas.microsoft.com/office/drawing/2014/main" id="{0668D5D4-55F7-B4C5-A9EE-EA0EBAE49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0512"/>
              <a:ext cx="1440" cy="595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STOP</a:t>
              </a:r>
              <a:endParaRPr lang="en-US" altLang="en-US" sz="1800"/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052791C2-9AA4-0223-9FBA-2A646E8E8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317B7561-46BC-426E-FB58-9ADA0721D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9955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095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81200" y="1295401"/>
            <a:ext cx="822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rtl="0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567CEB-1218-D4A0-BF22-299C96B8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4200"/>
                </a:solidFill>
                <a:latin typeface="Arial"/>
                <a:ea typeface="+mn-ea"/>
                <a:cs typeface="Arial"/>
              </a:rPr>
              <a:t>Flowchart Example 3</a:t>
            </a:r>
            <a:endParaRPr lang="en-GB" sz="3200" b="1" dirty="0">
              <a:solidFill>
                <a:srgbClr val="0042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82006-EA5B-3F34-6B65-6D3A3C7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1" y="6459787"/>
            <a:ext cx="4552942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ur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4131A6-1AF1-5E12-02D0-33A55B6F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894F-449D-476E-815A-5F325AE9C4DD}" type="slidenum">
              <a:rPr lang="ur-PK" sz="1600">
                <a:cs typeface="+mj-cs"/>
              </a:rPr>
              <a:pPr/>
              <a:t>24</a:t>
            </a:fld>
            <a:endParaRPr lang="ur-PK" sz="1600" dirty="0">
              <a:cs typeface="+mj-cs"/>
            </a:endParaRP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0457DC1D-CBE2-E248-A6F7-6117E40DEAC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828800"/>
            <a:ext cx="9906000" cy="4419600"/>
            <a:chOff x="672" y="1104"/>
            <a:chExt cx="4416" cy="24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2C165B75-0C9C-526D-5212-DB39BE433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04"/>
              <a:ext cx="4416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9" name="Group 35">
              <a:extLst>
                <a:ext uri="{FF2B5EF4-FFF2-40B4-BE49-F238E27FC236}">
                  <a16:creationId xmlns:a16="http://schemas.microsoft.com/office/drawing/2014/main" id="{58D6377C-D6E6-5C3A-2540-E6F361A47D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200"/>
              <a:ext cx="3552" cy="2042"/>
              <a:chOff x="1200" y="1200"/>
              <a:chExt cx="3552" cy="2042"/>
            </a:xfrm>
          </p:grpSpPr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CA808BCE-7DD7-0FE4-5DD3-9B55B5F11292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 flipH="1" flipV="1">
                <a:off x="789" y="2427"/>
                <a:ext cx="1065" cy="244"/>
              </a:xfrm>
              <a:custGeom>
                <a:avLst/>
                <a:gdLst>
                  <a:gd name="T0" fmla="*/ 1869 w 925"/>
                  <a:gd name="T1" fmla="*/ 0 h 481"/>
                  <a:gd name="T2" fmla="*/ 1869 w 925"/>
                  <a:gd name="T3" fmla="*/ 16 h 481"/>
                  <a:gd name="T4" fmla="*/ 0 w 925"/>
                  <a:gd name="T5" fmla="*/ 16 h 481"/>
                  <a:gd name="T6" fmla="*/ 0 60000 65536"/>
                  <a:gd name="T7" fmla="*/ 0 60000 65536"/>
                  <a:gd name="T8" fmla="*/ 0 60000 65536"/>
                  <a:gd name="T9" fmla="*/ 0 w 925"/>
                  <a:gd name="T10" fmla="*/ 0 h 481"/>
                  <a:gd name="T11" fmla="*/ 925 w 925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25" h="481">
                    <a:moveTo>
                      <a:pt x="924" y="0"/>
                    </a:moveTo>
                    <a:lnTo>
                      <a:pt x="924" y="480"/>
                    </a:lnTo>
                    <a:lnTo>
                      <a:pt x="0" y="48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7124E68-F990-D2F5-066E-C4F662BE8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38"/>
                <a:ext cx="1596" cy="568"/>
              </a:xfrm>
              <a:custGeom>
                <a:avLst/>
                <a:gdLst>
                  <a:gd name="T0" fmla="*/ 0 w 1532"/>
                  <a:gd name="T1" fmla="*/ 35 h 959"/>
                  <a:gd name="T2" fmla="*/ 940 w 1532"/>
                  <a:gd name="T3" fmla="*/ 0 h 959"/>
                  <a:gd name="T4" fmla="*/ 1878 w 1532"/>
                  <a:gd name="T5" fmla="*/ 35 h 959"/>
                  <a:gd name="T6" fmla="*/ 940 w 1532"/>
                  <a:gd name="T7" fmla="*/ 70 h 959"/>
                  <a:gd name="T8" fmla="*/ 0 w 1532"/>
                  <a:gd name="T9" fmla="*/ 35 h 9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2"/>
                  <a:gd name="T16" fmla="*/ 0 h 959"/>
                  <a:gd name="T17" fmla="*/ 1532 w 1532"/>
                  <a:gd name="T18" fmla="*/ 959 h 9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2" h="959">
                    <a:moveTo>
                      <a:pt x="0" y="479"/>
                    </a:moveTo>
                    <a:lnTo>
                      <a:pt x="766" y="0"/>
                    </a:lnTo>
                    <a:lnTo>
                      <a:pt x="1531" y="479"/>
                    </a:lnTo>
                    <a:lnTo>
                      <a:pt x="766" y="958"/>
                    </a:lnTo>
                    <a:lnTo>
                      <a:pt x="0" y="479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7627D6E-E627-4839-913B-DDA5ED0C2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898"/>
                <a:ext cx="0" cy="236"/>
              </a:xfrm>
              <a:custGeom>
                <a:avLst/>
                <a:gdLst>
                  <a:gd name="T0" fmla="*/ 0 w 1"/>
                  <a:gd name="T1" fmla="*/ 0 h 445"/>
                  <a:gd name="T2" fmla="*/ 0 w 1"/>
                  <a:gd name="T3" fmla="*/ 19 h 445"/>
                  <a:gd name="T4" fmla="*/ 0 60000 65536"/>
                  <a:gd name="T5" fmla="*/ 0 60000 65536"/>
                  <a:gd name="T6" fmla="*/ 0 w 1"/>
                  <a:gd name="T7" fmla="*/ 0 h 445"/>
                  <a:gd name="T8" fmla="*/ 0 w 1"/>
                  <a:gd name="T9" fmla="*/ 445 h 4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45">
                    <a:moveTo>
                      <a:pt x="0" y="0"/>
                    </a:moveTo>
                    <a:lnTo>
                      <a:pt x="0" y="444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C429F0-D2C0-8922-E859-B5665C666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341"/>
                <a:ext cx="0" cy="235"/>
              </a:xfrm>
              <a:custGeom>
                <a:avLst/>
                <a:gdLst>
                  <a:gd name="T0" fmla="*/ 0 w 1"/>
                  <a:gd name="T1" fmla="*/ 0 h 445"/>
                  <a:gd name="T2" fmla="*/ 0 w 1"/>
                  <a:gd name="T3" fmla="*/ 18 h 445"/>
                  <a:gd name="T4" fmla="*/ 0 60000 65536"/>
                  <a:gd name="T5" fmla="*/ 0 60000 65536"/>
                  <a:gd name="T6" fmla="*/ 0 w 1"/>
                  <a:gd name="T7" fmla="*/ 0 h 445"/>
                  <a:gd name="T8" fmla="*/ 0 w 1"/>
                  <a:gd name="T9" fmla="*/ 445 h 4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45">
                    <a:moveTo>
                      <a:pt x="0" y="0"/>
                    </a:moveTo>
                    <a:lnTo>
                      <a:pt x="0" y="444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9F376A0-1B80-BCA9-041E-E5454BA61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200"/>
                <a:ext cx="630" cy="211"/>
              </a:xfrm>
              <a:custGeom>
                <a:avLst/>
                <a:gdLst>
                  <a:gd name="T0" fmla="*/ 15 w 1054"/>
                  <a:gd name="T1" fmla="*/ 16 h 398"/>
                  <a:gd name="T2" fmla="*/ 65 w 1054"/>
                  <a:gd name="T3" fmla="*/ 16 h 398"/>
                  <a:gd name="T4" fmla="*/ 68 w 1054"/>
                  <a:gd name="T5" fmla="*/ 16 h 398"/>
                  <a:gd name="T6" fmla="*/ 70 w 1054"/>
                  <a:gd name="T7" fmla="*/ 16 h 398"/>
                  <a:gd name="T8" fmla="*/ 72 w 1054"/>
                  <a:gd name="T9" fmla="*/ 16 h 398"/>
                  <a:gd name="T10" fmla="*/ 74 w 1054"/>
                  <a:gd name="T11" fmla="*/ 15 h 398"/>
                  <a:gd name="T12" fmla="*/ 76 w 1054"/>
                  <a:gd name="T13" fmla="*/ 14 h 398"/>
                  <a:gd name="T14" fmla="*/ 77 w 1054"/>
                  <a:gd name="T15" fmla="*/ 13 h 398"/>
                  <a:gd name="T16" fmla="*/ 78 w 1054"/>
                  <a:gd name="T17" fmla="*/ 12 h 398"/>
                  <a:gd name="T18" fmla="*/ 79 w 1054"/>
                  <a:gd name="T19" fmla="*/ 11 h 398"/>
                  <a:gd name="T20" fmla="*/ 80 w 1054"/>
                  <a:gd name="T21" fmla="*/ 10 h 398"/>
                  <a:gd name="T22" fmla="*/ 80 w 1054"/>
                  <a:gd name="T23" fmla="*/ 9 h 398"/>
                  <a:gd name="T24" fmla="*/ 80 w 1054"/>
                  <a:gd name="T25" fmla="*/ 8 h 398"/>
                  <a:gd name="T26" fmla="*/ 80 w 1054"/>
                  <a:gd name="T27" fmla="*/ 6 h 398"/>
                  <a:gd name="T28" fmla="*/ 79 w 1054"/>
                  <a:gd name="T29" fmla="*/ 5 h 398"/>
                  <a:gd name="T30" fmla="*/ 78 w 1054"/>
                  <a:gd name="T31" fmla="*/ 4 h 398"/>
                  <a:gd name="T32" fmla="*/ 77 w 1054"/>
                  <a:gd name="T33" fmla="*/ 3 h 398"/>
                  <a:gd name="T34" fmla="*/ 76 w 1054"/>
                  <a:gd name="T35" fmla="*/ 2 h 398"/>
                  <a:gd name="T36" fmla="*/ 74 w 1054"/>
                  <a:gd name="T37" fmla="*/ 2 h 398"/>
                  <a:gd name="T38" fmla="*/ 72 w 1054"/>
                  <a:gd name="T39" fmla="*/ 1 h 398"/>
                  <a:gd name="T40" fmla="*/ 70 w 1054"/>
                  <a:gd name="T41" fmla="*/ 1 h 398"/>
                  <a:gd name="T42" fmla="*/ 68 w 1054"/>
                  <a:gd name="T43" fmla="*/ 1 h 398"/>
                  <a:gd name="T44" fmla="*/ 65 w 1054"/>
                  <a:gd name="T45" fmla="*/ 0 h 398"/>
                  <a:gd name="T46" fmla="*/ 15 w 1054"/>
                  <a:gd name="T47" fmla="*/ 0 h 398"/>
                  <a:gd name="T48" fmla="*/ 13 w 1054"/>
                  <a:gd name="T49" fmla="*/ 1 h 398"/>
                  <a:gd name="T50" fmla="*/ 10 w 1054"/>
                  <a:gd name="T51" fmla="*/ 1 h 398"/>
                  <a:gd name="T52" fmla="*/ 8 w 1054"/>
                  <a:gd name="T53" fmla="*/ 1 h 398"/>
                  <a:gd name="T54" fmla="*/ 7 w 1054"/>
                  <a:gd name="T55" fmla="*/ 2 h 398"/>
                  <a:gd name="T56" fmla="*/ 5 w 1054"/>
                  <a:gd name="T57" fmla="*/ 2 h 398"/>
                  <a:gd name="T58" fmla="*/ 4 w 1054"/>
                  <a:gd name="T59" fmla="*/ 3 h 398"/>
                  <a:gd name="T60" fmla="*/ 2 w 1054"/>
                  <a:gd name="T61" fmla="*/ 4 h 398"/>
                  <a:gd name="T62" fmla="*/ 1 w 1054"/>
                  <a:gd name="T63" fmla="*/ 5 h 398"/>
                  <a:gd name="T64" fmla="*/ 1 w 1054"/>
                  <a:gd name="T65" fmla="*/ 6 h 398"/>
                  <a:gd name="T66" fmla="*/ 0 w 1054"/>
                  <a:gd name="T67" fmla="*/ 8 h 398"/>
                  <a:gd name="T68" fmla="*/ 0 w 1054"/>
                  <a:gd name="T69" fmla="*/ 9 h 398"/>
                  <a:gd name="T70" fmla="*/ 1 w 1054"/>
                  <a:gd name="T71" fmla="*/ 10 h 398"/>
                  <a:gd name="T72" fmla="*/ 1 w 1054"/>
                  <a:gd name="T73" fmla="*/ 11 h 398"/>
                  <a:gd name="T74" fmla="*/ 2 w 1054"/>
                  <a:gd name="T75" fmla="*/ 12 h 398"/>
                  <a:gd name="T76" fmla="*/ 4 w 1054"/>
                  <a:gd name="T77" fmla="*/ 13 h 398"/>
                  <a:gd name="T78" fmla="*/ 5 w 1054"/>
                  <a:gd name="T79" fmla="*/ 14 h 398"/>
                  <a:gd name="T80" fmla="*/ 7 w 1054"/>
                  <a:gd name="T81" fmla="*/ 15 h 398"/>
                  <a:gd name="T82" fmla="*/ 8 w 1054"/>
                  <a:gd name="T83" fmla="*/ 16 h 398"/>
                  <a:gd name="T84" fmla="*/ 10 w 1054"/>
                  <a:gd name="T85" fmla="*/ 16 h 398"/>
                  <a:gd name="T86" fmla="*/ 13 w 1054"/>
                  <a:gd name="T87" fmla="*/ 16 h 398"/>
                  <a:gd name="T88" fmla="*/ 15 w 1054"/>
                  <a:gd name="T89" fmla="*/ 16 h 39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054"/>
                  <a:gd name="T136" fmla="*/ 0 h 398"/>
                  <a:gd name="T137" fmla="*/ 1054 w 1054"/>
                  <a:gd name="T138" fmla="*/ 398 h 39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054" h="398">
                    <a:moveTo>
                      <a:pt x="198" y="397"/>
                    </a:moveTo>
                    <a:lnTo>
                      <a:pt x="855" y="397"/>
                    </a:lnTo>
                    <a:lnTo>
                      <a:pt x="884" y="395"/>
                    </a:lnTo>
                    <a:lnTo>
                      <a:pt x="914" y="388"/>
                    </a:lnTo>
                    <a:lnTo>
                      <a:pt x="941" y="376"/>
                    </a:lnTo>
                    <a:lnTo>
                      <a:pt x="967" y="362"/>
                    </a:lnTo>
                    <a:lnTo>
                      <a:pt x="990" y="343"/>
                    </a:lnTo>
                    <a:lnTo>
                      <a:pt x="1010" y="321"/>
                    </a:lnTo>
                    <a:lnTo>
                      <a:pt x="1027" y="297"/>
                    </a:lnTo>
                    <a:lnTo>
                      <a:pt x="1039" y="270"/>
                    </a:lnTo>
                    <a:lnTo>
                      <a:pt x="1048" y="242"/>
                    </a:lnTo>
                    <a:lnTo>
                      <a:pt x="1053" y="213"/>
                    </a:lnTo>
                    <a:lnTo>
                      <a:pt x="1053" y="184"/>
                    </a:lnTo>
                    <a:lnTo>
                      <a:pt x="1048" y="155"/>
                    </a:lnTo>
                    <a:lnTo>
                      <a:pt x="1039" y="127"/>
                    </a:lnTo>
                    <a:lnTo>
                      <a:pt x="1027" y="100"/>
                    </a:lnTo>
                    <a:lnTo>
                      <a:pt x="1010" y="76"/>
                    </a:lnTo>
                    <a:lnTo>
                      <a:pt x="990" y="54"/>
                    </a:lnTo>
                    <a:lnTo>
                      <a:pt x="967" y="35"/>
                    </a:lnTo>
                    <a:lnTo>
                      <a:pt x="941" y="21"/>
                    </a:lnTo>
                    <a:lnTo>
                      <a:pt x="914" y="9"/>
                    </a:lnTo>
                    <a:lnTo>
                      <a:pt x="884" y="2"/>
                    </a:lnTo>
                    <a:lnTo>
                      <a:pt x="855" y="0"/>
                    </a:lnTo>
                    <a:lnTo>
                      <a:pt x="198" y="0"/>
                    </a:lnTo>
                    <a:lnTo>
                      <a:pt x="167" y="2"/>
                    </a:lnTo>
                    <a:lnTo>
                      <a:pt x="138" y="9"/>
                    </a:lnTo>
                    <a:lnTo>
                      <a:pt x="112" y="21"/>
                    </a:lnTo>
                    <a:lnTo>
                      <a:pt x="86" y="35"/>
                    </a:lnTo>
                    <a:lnTo>
                      <a:pt x="63" y="54"/>
                    </a:lnTo>
                    <a:lnTo>
                      <a:pt x="43" y="76"/>
                    </a:lnTo>
                    <a:lnTo>
                      <a:pt x="26" y="100"/>
                    </a:lnTo>
                    <a:lnTo>
                      <a:pt x="14" y="127"/>
                    </a:lnTo>
                    <a:lnTo>
                      <a:pt x="5" y="155"/>
                    </a:lnTo>
                    <a:lnTo>
                      <a:pt x="0" y="184"/>
                    </a:lnTo>
                    <a:lnTo>
                      <a:pt x="0" y="213"/>
                    </a:lnTo>
                    <a:lnTo>
                      <a:pt x="5" y="242"/>
                    </a:lnTo>
                    <a:lnTo>
                      <a:pt x="14" y="270"/>
                    </a:lnTo>
                    <a:lnTo>
                      <a:pt x="26" y="297"/>
                    </a:lnTo>
                    <a:lnTo>
                      <a:pt x="43" y="321"/>
                    </a:lnTo>
                    <a:lnTo>
                      <a:pt x="63" y="343"/>
                    </a:lnTo>
                    <a:lnTo>
                      <a:pt x="86" y="362"/>
                    </a:lnTo>
                    <a:lnTo>
                      <a:pt x="112" y="376"/>
                    </a:lnTo>
                    <a:lnTo>
                      <a:pt x="138" y="388"/>
                    </a:lnTo>
                    <a:lnTo>
                      <a:pt x="167" y="395"/>
                    </a:lnTo>
                    <a:lnTo>
                      <a:pt x="198" y="397"/>
                    </a:lnTo>
                  </a:path>
                </a:pathLst>
              </a:custGeom>
              <a:solidFill>
                <a:schemeClr val="bg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A6B9657-53E5-4433-9F5D-583779050B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226"/>
                <a:ext cx="395" cy="17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200" b="1"/>
                  <a:t>Begin</a:t>
                </a:r>
              </a:p>
            </p:txBody>
          </p:sp>
          <p:grpSp>
            <p:nvGrpSpPr>
              <p:cNvPr id="16" name="Group 32">
                <a:extLst>
                  <a:ext uri="{FF2B5EF4-FFF2-40B4-BE49-F238E27FC236}">
                    <a16:creationId xmlns:a16="http://schemas.microsoft.com/office/drawing/2014/main" id="{D9152EEE-EC03-2C61-AE1C-0223709FF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858"/>
                <a:ext cx="613" cy="198"/>
                <a:chOff x="4032" y="2688"/>
                <a:chExt cx="613" cy="198"/>
              </a:xfrm>
            </p:grpSpPr>
            <p:sp>
              <p:nvSpPr>
                <p:cNvPr id="27" name="Freeform 16">
                  <a:extLst>
                    <a:ext uri="{FF2B5EF4-FFF2-40B4-BE49-F238E27FC236}">
                      <a16:creationId xmlns:a16="http://schemas.microsoft.com/office/drawing/2014/main" id="{C69D5F0E-0905-2ECA-7486-0AF8F9CDB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2" y="2688"/>
                  <a:ext cx="613" cy="198"/>
                </a:xfrm>
                <a:custGeom>
                  <a:avLst/>
                  <a:gdLst>
                    <a:gd name="T0" fmla="*/ 13 w 1054"/>
                    <a:gd name="T1" fmla="*/ 12 h 398"/>
                    <a:gd name="T2" fmla="*/ 57 w 1054"/>
                    <a:gd name="T3" fmla="*/ 12 h 398"/>
                    <a:gd name="T4" fmla="*/ 59 w 1054"/>
                    <a:gd name="T5" fmla="*/ 12 h 398"/>
                    <a:gd name="T6" fmla="*/ 61 w 1054"/>
                    <a:gd name="T7" fmla="*/ 12 h 398"/>
                    <a:gd name="T8" fmla="*/ 63 w 1054"/>
                    <a:gd name="T9" fmla="*/ 11 h 398"/>
                    <a:gd name="T10" fmla="*/ 65 w 1054"/>
                    <a:gd name="T11" fmla="*/ 11 h 398"/>
                    <a:gd name="T12" fmla="*/ 66 w 1054"/>
                    <a:gd name="T13" fmla="*/ 10 h 398"/>
                    <a:gd name="T14" fmla="*/ 67 w 1054"/>
                    <a:gd name="T15" fmla="*/ 10 h 398"/>
                    <a:gd name="T16" fmla="*/ 68 w 1054"/>
                    <a:gd name="T17" fmla="*/ 9 h 398"/>
                    <a:gd name="T18" fmla="*/ 69 w 1054"/>
                    <a:gd name="T19" fmla="*/ 8 h 398"/>
                    <a:gd name="T20" fmla="*/ 70 w 1054"/>
                    <a:gd name="T21" fmla="*/ 7 h 398"/>
                    <a:gd name="T22" fmla="*/ 70 w 1054"/>
                    <a:gd name="T23" fmla="*/ 6 h 398"/>
                    <a:gd name="T24" fmla="*/ 70 w 1054"/>
                    <a:gd name="T25" fmla="*/ 5 h 398"/>
                    <a:gd name="T26" fmla="*/ 70 w 1054"/>
                    <a:gd name="T27" fmla="*/ 4 h 398"/>
                    <a:gd name="T28" fmla="*/ 69 w 1054"/>
                    <a:gd name="T29" fmla="*/ 3 h 398"/>
                    <a:gd name="T30" fmla="*/ 68 w 1054"/>
                    <a:gd name="T31" fmla="*/ 3 h 398"/>
                    <a:gd name="T32" fmla="*/ 67 w 1054"/>
                    <a:gd name="T33" fmla="*/ 2 h 398"/>
                    <a:gd name="T34" fmla="*/ 66 w 1054"/>
                    <a:gd name="T35" fmla="*/ 1 h 398"/>
                    <a:gd name="T36" fmla="*/ 65 w 1054"/>
                    <a:gd name="T37" fmla="*/ 1 h 398"/>
                    <a:gd name="T38" fmla="*/ 63 w 1054"/>
                    <a:gd name="T39" fmla="*/ 0 h 398"/>
                    <a:gd name="T40" fmla="*/ 61 w 1054"/>
                    <a:gd name="T41" fmla="*/ 0 h 398"/>
                    <a:gd name="T42" fmla="*/ 59 w 1054"/>
                    <a:gd name="T43" fmla="*/ 0 h 398"/>
                    <a:gd name="T44" fmla="*/ 57 w 1054"/>
                    <a:gd name="T45" fmla="*/ 0 h 398"/>
                    <a:gd name="T46" fmla="*/ 13 w 1054"/>
                    <a:gd name="T47" fmla="*/ 0 h 398"/>
                    <a:gd name="T48" fmla="*/ 11 w 1054"/>
                    <a:gd name="T49" fmla="*/ 0 h 398"/>
                    <a:gd name="T50" fmla="*/ 9 w 1054"/>
                    <a:gd name="T51" fmla="*/ 0 h 398"/>
                    <a:gd name="T52" fmla="*/ 8 w 1054"/>
                    <a:gd name="T53" fmla="*/ 0 h 398"/>
                    <a:gd name="T54" fmla="*/ 6 w 1054"/>
                    <a:gd name="T55" fmla="*/ 1 h 398"/>
                    <a:gd name="T56" fmla="*/ 5 w 1054"/>
                    <a:gd name="T57" fmla="*/ 1 h 398"/>
                    <a:gd name="T58" fmla="*/ 3 w 1054"/>
                    <a:gd name="T59" fmla="*/ 2 h 398"/>
                    <a:gd name="T60" fmla="*/ 2 w 1054"/>
                    <a:gd name="T61" fmla="*/ 3 h 398"/>
                    <a:gd name="T62" fmla="*/ 1 w 1054"/>
                    <a:gd name="T63" fmla="*/ 3 h 398"/>
                    <a:gd name="T64" fmla="*/ 1 w 1054"/>
                    <a:gd name="T65" fmla="*/ 4 h 398"/>
                    <a:gd name="T66" fmla="*/ 0 w 1054"/>
                    <a:gd name="T67" fmla="*/ 5 h 398"/>
                    <a:gd name="T68" fmla="*/ 0 w 1054"/>
                    <a:gd name="T69" fmla="*/ 6 h 398"/>
                    <a:gd name="T70" fmla="*/ 1 w 1054"/>
                    <a:gd name="T71" fmla="*/ 7 h 398"/>
                    <a:gd name="T72" fmla="*/ 1 w 1054"/>
                    <a:gd name="T73" fmla="*/ 8 h 398"/>
                    <a:gd name="T74" fmla="*/ 2 w 1054"/>
                    <a:gd name="T75" fmla="*/ 9 h 398"/>
                    <a:gd name="T76" fmla="*/ 3 w 1054"/>
                    <a:gd name="T77" fmla="*/ 10 h 398"/>
                    <a:gd name="T78" fmla="*/ 5 w 1054"/>
                    <a:gd name="T79" fmla="*/ 10 h 398"/>
                    <a:gd name="T80" fmla="*/ 6 w 1054"/>
                    <a:gd name="T81" fmla="*/ 11 h 398"/>
                    <a:gd name="T82" fmla="*/ 8 w 1054"/>
                    <a:gd name="T83" fmla="*/ 11 h 398"/>
                    <a:gd name="T84" fmla="*/ 9 w 1054"/>
                    <a:gd name="T85" fmla="*/ 12 h 398"/>
                    <a:gd name="T86" fmla="*/ 11 w 1054"/>
                    <a:gd name="T87" fmla="*/ 12 h 398"/>
                    <a:gd name="T88" fmla="*/ 13 w 1054"/>
                    <a:gd name="T89" fmla="*/ 12 h 398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054"/>
                    <a:gd name="T136" fmla="*/ 0 h 398"/>
                    <a:gd name="T137" fmla="*/ 1054 w 1054"/>
                    <a:gd name="T138" fmla="*/ 398 h 398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054" h="398">
                      <a:moveTo>
                        <a:pt x="198" y="397"/>
                      </a:moveTo>
                      <a:lnTo>
                        <a:pt x="855" y="397"/>
                      </a:lnTo>
                      <a:lnTo>
                        <a:pt x="884" y="395"/>
                      </a:lnTo>
                      <a:lnTo>
                        <a:pt x="914" y="388"/>
                      </a:lnTo>
                      <a:lnTo>
                        <a:pt x="941" y="376"/>
                      </a:lnTo>
                      <a:lnTo>
                        <a:pt x="967" y="362"/>
                      </a:lnTo>
                      <a:lnTo>
                        <a:pt x="990" y="343"/>
                      </a:lnTo>
                      <a:lnTo>
                        <a:pt x="1010" y="321"/>
                      </a:lnTo>
                      <a:lnTo>
                        <a:pt x="1027" y="297"/>
                      </a:lnTo>
                      <a:lnTo>
                        <a:pt x="1039" y="270"/>
                      </a:lnTo>
                      <a:lnTo>
                        <a:pt x="1048" y="242"/>
                      </a:lnTo>
                      <a:lnTo>
                        <a:pt x="1053" y="213"/>
                      </a:lnTo>
                      <a:lnTo>
                        <a:pt x="1053" y="184"/>
                      </a:lnTo>
                      <a:lnTo>
                        <a:pt x="1048" y="155"/>
                      </a:lnTo>
                      <a:lnTo>
                        <a:pt x="1039" y="127"/>
                      </a:lnTo>
                      <a:lnTo>
                        <a:pt x="1027" y="100"/>
                      </a:lnTo>
                      <a:lnTo>
                        <a:pt x="1010" y="76"/>
                      </a:lnTo>
                      <a:lnTo>
                        <a:pt x="990" y="54"/>
                      </a:lnTo>
                      <a:lnTo>
                        <a:pt x="967" y="35"/>
                      </a:lnTo>
                      <a:lnTo>
                        <a:pt x="941" y="21"/>
                      </a:lnTo>
                      <a:lnTo>
                        <a:pt x="914" y="9"/>
                      </a:lnTo>
                      <a:lnTo>
                        <a:pt x="884" y="2"/>
                      </a:lnTo>
                      <a:lnTo>
                        <a:pt x="855" y="0"/>
                      </a:lnTo>
                      <a:lnTo>
                        <a:pt x="198" y="0"/>
                      </a:lnTo>
                      <a:lnTo>
                        <a:pt x="167" y="2"/>
                      </a:lnTo>
                      <a:lnTo>
                        <a:pt x="138" y="9"/>
                      </a:lnTo>
                      <a:lnTo>
                        <a:pt x="112" y="21"/>
                      </a:lnTo>
                      <a:lnTo>
                        <a:pt x="86" y="35"/>
                      </a:lnTo>
                      <a:lnTo>
                        <a:pt x="63" y="54"/>
                      </a:lnTo>
                      <a:lnTo>
                        <a:pt x="43" y="76"/>
                      </a:lnTo>
                      <a:lnTo>
                        <a:pt x="26" y="100"/>
                      </a:lnTo>
                      <a:lnTo>
                        <a:pt x="14" y="127"/>
                      </a:lnTo>
                      <a:lnTo>
                        <a:pt x="5" y="155"/>
                      </a:lnTo>
                      <a:lnTo>
                        <a:pt x="0" y="184"/>
                      </a:lnTo>
                      <a:lnTo>
                        <a:pt x="0" y="213"/>
                      </a:lnTo>
                      <a:lnTo>
                        <a:pt x="5" y="242"/>
                      </a:lnTo>
                      <a:lnTo>
                        <a:pt x="14" y="270"/>
                      </a:lnTo>
                      <a:lnTo>
                        <a:pt x="26" y="297"/>
                      </a:lnTo>
                      <a:lnTo>
                        <a:pt x="43" y="321"/>
                      </a:lnTo>
                      <a:lnTo>
                        <a:pt x="63" y="343"/>
                      </a:lnTo>
                      <a:lnTo>
                        <a:pt x="86" y="362"/>
                      </a:lnTo>
                      <a:lnTo>
                        <a:pt x="112" y="376"/>
                      </a:lnTo>
                      <a:lnTo>
                        <a:pt x="138" y="388"/>
                      </a:lnTo>
                      <a:lnTo>
                        <a:pt x="167" y="395"/>
                      </a:lnTo>
                      <a:lnTo>
                        <a:pt x="198" y="397"/>
                      </a:lnTo>
                    </a:path>
                  </a:pathLst>
                </a:custGeom>
                <a:solidFill>
                  <a:schemeClr val="bg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17">
                  <a:extLst>
                    <a:ext uri="{FF2B5EF4-FFF2-40B4-BE49-F238E27FC236}">
                      <a16:creationId xmlns:a16="http://schemas.microsoft.com/office/drawing/2014/main" id="{57E021CE-664F-8AF1-16DE-46EA38CDD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688"/>
                  <a:ext cx="328" cy="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01600" tIns="50800" rIns="101600" bIns="50800">
                  <a:spAutoFit/>
                </a:bodyPr>
                <a:lstStyle>
                  <a:lvl1pPr defTabSz="1106488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1106488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1106488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1106488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1106488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200" b="1"/>
                    <a:t>End</a:t>
                  </a:r>
                </a:p>
              </p:txBody>
            </p:sp>
          </p:grpSp>
          <p:sp>
            <p:nvSpPr>
              <p:cNvPr id="17" name="Rectangle 18">
                <a:extLst>
                  <a:ext uri="{FF2B5EF4-FFF2-40B4-BE49-F238E27FC236}">
                    <a16:creationId xmlns:a16="http://schemas.microsoft.com/office/drawing/2014/main" id="{C840DC30-7656-2724-0F5E-72612BAC1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330"/>
                <a:ext cx="1293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dirty="0" err="1"/>
                  <a:t>current_number</a:t>
                </a:r>
                <a:r>
                  <a:rPr lang="en-GB" altLang="en-US" sz="1400" dirty="0"/>
                  <a:t> &lt;= 10?</a:t>
                </a:r>
              </a:p>
            </p:txBody>
          </p:sp>
          <p:sp>
            <p:nvSpPr>
              <p:cNvPr id="18" name="Rectangle 20">
                <a:extLst>
                  <a:ext uri="{FF2B5EF4-FFF2-40B4-BE49-F238E27FC236}">
                    <a16:creationId xmlns:a16="http://schemas.microsoft.com/office/drawing/2014/main" id="{D4F6463E-A47B-D1FD-6FE4-5F83CF94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186"/>
                <a:ext cx="296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NO</a:t>
                </a:r>
              </a:p>
            </p:txBody>
          </p:sp>
          <p:sp>
            <p:nvSpPr>
              <p:cNvPr id="19" name="Rectangle 21">
                <a:extLst>
                  <a:ext uri="{FF2B5EF4-FFF2-40B4-BE49-F238E27FC236}">
                    <a16:creationId xmlns:a16="http://schemas.microsoft.com/office/drawing/2014/main" id="{B5AD6841-B134-9C20-2DA5-FE5DB9FBC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714"/>
                <a:ext cx="353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YES</a:t>
                </a:r>
              </a:p>
            </p:txBody>
          </p:sp>
          <p:sp>
            <p:nvSpPr>
              <p:cNvPr id="20" name="Rectangle 24">
                <a:extLst>
                  <a:ext uri="{FF2B5EF4-FFF2-40B4-BE49-F238E27FC236}">
                    <a16:creationId xmlns:a16="http://schemas.microsoft.com/office/drawing/2014/main" id="{8E482DE0-75BF-FAD6-AAA7-D6D2636CB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562"/>
                <a:ext cx="1737" cy="3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sum = 0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current_number = 1</a:t>
                </a:r>
              </a:p>
            </p:txBody>
          </p:sp>
          <p:sp>
            <p:nvSpPr>
              <p:cNvPr id="21" name="Line 25">
                <a:extLst>
                  <a:ext uri="{FF2B5EF4-FFF2-40B4-BE49-F238E27FC236}">
                    <a16:creationId xmlns:a16="http://schemas.microsoft.com/office/drawing/2014/main" id="{8BA3539E-111C-FF58-C3EA-421FE7635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71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26">
                <a:extLst>
                  <a:ext uri="{FF2B5EF4-FFF2-40B4-BE49-F238E27FC236}">
                    <a16:creationId xmlns:a16="http://schemas.microsoft.com/office/drawing/2014/main" id="{843CA13B-E5F2-E84C-028C-7264D2784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906"/>
                <a:ext cx="1920" cy="3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sum = sum + current_number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current_number = current_number + 1</a:t>
                </a:r>
              </a:p>
            </p:txBody>
          </p:sp>
          <p:sp>
            <p:nvSpPr>
              <p:cNvPr id="23" name="Line 28">
                <a:extLst>
                  <a:ext uri="{FF2B5EF4-FFF2-40B4-BE49-F238E27FC236}">
                    <a16:creationId xmlns:a16="http://schemas.microsoft.com/office/drawing/2014/main" id="{0688649B-A6B6-E98F-04E4-8CB78B6CD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016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29">
                <a:extLst>
                  <a:ext uri="{FF2B5EF4-FFF2-40B4-BE49-F238E27FC236}">
                    <a16:creationId xmlns:a16="http://schemas.microsoft.com/office/drawing/2014/main" id="{F6CE585A-D528-B10C-ECB4-D13344E65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42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AutoShape 30">
                <a:extLst>
                  <a:ext uri="{FF2B5EF4-FFF2-40B4-BE49-F238E27FC236}">
                    <a16:creationId xmlns:a16="http://schemas.microsoft.com/office/drawing/2014/main" id="{7C5F9BA8-DDA9-28F4-53AF-4BEB26D15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330"/>
                <a:ext cx="1296" cy="275"/>
              </a:xfrm>
              <a:prstGeom prst="parallelogram">
                <a:avLst>
                  <a:gd name="adj" fmla="val 117753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46050" tIns="74612" rIns="146050" bIns="74612" anchor="ctr"/>
              <a:lstStyle>
                <a:lvl1pPr defTabSz="229393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229393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229393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229393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229393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print sum</a:t>
                </a:r>
              </a:p>
            </p:txBody>
          </p:sp>
          <p:sp>
            <p:nvSpPr>
              <p:cNvPr id="26" name="Line 31">
                <a:extLst>
                  <a:ext uri="{FF2B5EF4-FFF2-40B4-BE49-F238E27FC236}">
                    <a16:creationId xmlns:a16="http://schemas.microsoft.com/office/drawing/2014/main" id="{414343BD-4BF5-A652-0827-DB462E98B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61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1702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16590</TotalTime>
  <Words>1182</Words>
  <Application>Microsoft Office PowerPoint</Application>
  <PresentationFormat>Widescreen</PresentationFormat>
  <Paragraphs>390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Retrospect</vt:lpstr>
      <vt:lpstr>Visio</vt:lpstr>
      <vt:lpstr>PowerPoint Presentation</vt:lpstr>
      <vt:lpstr>Outline</vt:lpstr>
      <vt:lpstr>What is an Algorithm?</vt:lpstr>
      <vt:lpstr>Some algorithms are harder than others</vt:lpstr>
      <vt:lpstr>Properties of algorithms</vt:lpstr>
      <vt:lpstr>Algorithm Writing Style</vt:lpstr>
      <vt:lpstr>Programming</vt:lpstr>
      <vt:lpstr>Programming</vt:lpstr>
      <vt:lpstr>If Statements</vt:lpstr>
      <vt:lpstr>Block of code</vt:lpstr>
      <vt:lpstr>Loops</vt:lpstr>
      <vt:lpstr>Taking a step back</vt:lpstr>
      <vt:lpstr>Write a program to count the length of a message</vt:lpstr>
      <vt:lpstr>Pseudocode</vt:lpstr>
      <vt:lpstr>Pseudocode</vt:lpstr>
      <vt:lpstr>Pseudocode Example</vt:lpstr>
      <vt:lpstr>Flowchart</vt:lpstr>
      <vt:lpstr>Flowchart</vt:lpstr>
      <vt:lpstr>Flowchart Symbols</vt:lpstr>
      <vt:lpstr>Flowchart Example 1</vt:lpstr>
      <vt:lpstr>Flowchart Example 1</vt:lpstr>
      <vt:lpstr>Flowchart Example 2</vt:lpstr>
      <vt:lpstr>Flowchart Example 2</vt:lpstr>
      <vt:lpstr>Flowchart Example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AIK</dc:creator>
  <cp:lastModifiedBy>hamid ali</cp:lastModifiedBy>
  <cp:revision>181</cp:revision>
  <dcterms:created xsi:type="dcterms:W3CDTF">2018-09-11T13:00:38Z</dcterms:created>
  <dcterms:modified xsi:type="dcterms:W3CDTF">2023-10-22T09:00:24Z</dcterms:modified>
</cp:coreProperties>
</file>